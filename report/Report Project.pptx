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97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7331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yourself and the project objective.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business problem and why churn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the validation and cleaning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first three charts.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support-related findings using the charts.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user engagement and the recommended KPI.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 the four business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the findings and thank the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Customer Churn Analysis at Fit.ly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Data Analyst Professional Certification</a:t>
            </a:r>
          </a:p>
          <a:p>
            <a:pPr>
              <a:defRPr sz="2200"/>
            </a:pPr>
            <a:r>
              <a:t>Mahdi Dehlaghi</a:t>
            </a:r>
          </a:p>
          <a:p>
            <a:pPr>
              <a:defRPr sz="2200"/>
            </a:pPr>
            <a:endParaRPr/>
          </a:p>
          <a:p>
            <a:pPr>
              <a:defRPr sz="2200"/>
            </a:pPr>
            <a:r>
              <a:t>Objective:</a:t>
            </a:r>
          </a:p>
          <a:p>
            <a:pPr>
              <a:defRPr sz="2200"/>
            </a:pPr>
            <a:r>
              <a:t>Identify factors associated with customer churn.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Customer churn increased over the past two quarters.</a:t>
            </a:r>
          </a:p>
          <a:p>
            <a:pPr>
              <a:defRPr sz="2200"/>
            </a:pPr>
            <a:r>
              <a:t>• Customer retention is a key business priority.</a:t>
            </a:r>
          </a:p>
          <a:p>
            <a:pPr>
              <a:defRPr sz="2200"/>
            </a:pPr>
            <a:r>
              <a:t>• Analysis combines account, support and activity data.</a:t>
            </a:r>
          </a:p>
          <a:p>
            <a:pPr>
              <a:defRPr sz="2200"/>
            </a:pPr>
            <a:r>
              <a:t>• Goal: identify actionable insights to reduce churn.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Data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Account</a:t>
            </a:r>
          </a:p>
          <a:p>
            <a:pPr>
              <a:defRPr sz="2200"/>
            </a:pPr>
            <a:r>
              <a:t>• 400 customers</a:t>
            </a:r>
          </a:p>
          <a:p>
            <a:pPr>
              <a:defRPr sz="2200"/>
            </a:pPr>
            <a:r>
              <a:t>• No duplicates</a:t>
            </a:r>
          </a:p>
          <a:p>
            <a:pPr>
              <a:defRPr sz="2200"/>
            </a:pPr>
            <a:r>
              <a:t>• Missing churn values documented</a:t>
            </a:r>
          </a:p>
          <a:p>
            <a:pPr>
              <a:defRPr sz="2200"/>
            </a:pPr>
            <a:endParaRPr/>
          </a:p>
          <a:p>
            <a:pPr>
              <a:defRPr sz="2200"/>
            </a:pPr>
            <a:r>
              <a:t>Support</a:t>
            </a:r>
          </a:p>
          <a:p>
            <a:pPr>
              <a:defRPr sz="2200"/>
            </a:pPr>
            <a:r>
              <a:t>• 918 tickets</a:t>
            </a:r>
          </a:p>
          <a:p>
            <a:pPr>
              <a:defRPr sz="2200"/>
            </a:pPr>
            <a:r>
              <a:t>• Dates converted</a:t>
            </a:r>
          </a:p>
          <a:p>
            <a:pPr>
              <a:defRPr sz="2200"/>
            </a:pPr>
            <a:r>
              <a:t>• Invalid channels standardized</a:t>
            </a:r>
          </a:p>
          <a:p>
            <a:pPr>
              <a:defRPr sz="2200"/>
            </a:pPr>
            <a:endParaRPr/>
          </a:p>
          <a:p>
            <a:pPr>
              <a:defRPr sz="2200"/>
            </a:pPr>
            <a:r>
              <a:t>Activity</a:t>
            </a:r>
          </a:p>
          <a:p>
            <a:pPr>
              <a:defRPr sz="2200"/>
            </a:pPr>
            <a:r>
              <a:t>• 445 events</a:t>
            </a:r>
          </a:p>
          <a:p>
            <a:pPr>
              <a:defRPr sz="2200"/>
            </a:pPr>
            <a:r>
              <a:t>• No duplicates</a:t>
            </a:r>
          </a:p>
          <a:p>
            <a:pPr>
              <a:defRPr sz="2200"/>
            </a:pPr>
            <a:r>
              <a:t>• Dates converted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lang="en-US"/>
              <a:t>Exploratory Analysis</a:t>
            </a:r>
          </a:p>
        </p:txBody>
      </p:sp>
      <p:pic>
        <p:nvPicPr>
          <p:cNvPr id="5" name="Picture 4" descr="A blue bar graph with numbers&#10;&#10;Description automatically generated">
            <a:extLst>
              <a:ext uri="{FF2B5EF4-FFF2-40B4-BE49-F238E27FC236}">
                <a16:creationId xmlns:a16="http://schemas.microsoft.com/office/drawing/2014/main" id="{A3E4D9B4-6E55-3A0A-CBD2-986D0C839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615" y="1537680"/>
            <a:ext cx="3867243" cy="4188585"/>
          </a:xfrm>
          <a:prstGeom prst="rect">
            <a:avLst/>
          </a:prstGeom>
        </p:spPr>
      </p:pic>
      <p:pic>
        <p:nvPicPr>
          <p:cNvPr id="7" name="Picture 6" descr="A blue bar graph with white text&#10;&#10;Description automatically generated">
            <a:extLst>
              <a:ext uri="{FF2B5EF4-FFF2-40B4-BE49-F238E27FC236}">
                <a16:creationId xmlns:a16="http://schemas.microsoft.com/office/drawing/2014/main" id="{D102ED9F-8588-54F2-12A5-C6D30B16F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6253" y="1537680"/>
            <a:ext cx="3569715" cy="3809518"/>
          </a:xfrm>
          <a:prstGeom prst="rect">
            <a:avLst/>
          </a:prstGeom>
        </p:spPr>
      </p:pic>
      <p:pic>
        <p:nvPicPr>
          <p:cNvPr id="9" name="Picture 8" descr="A blue bar graph with text&#10;&#10;Description automatically generated">
            <a:extLst>
              <a:ext uri="{FF2B5EF4-FFF2-40B4-BE49-F238E27FC236}">
                <a16:creationId xmlns:a16="http://schemas.microsoft.com/office/drawing/2014/main" id="{5C3CC9A8-F5C5-B3D3-7A05-F0AC31A722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495" y="1537681"/>
            <a:ext cx="3569715" cy="41885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Customer Support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775231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endParaRPr dirty="0"/>
          </a:p>
          <a:p>
            <a:pPr>
              <a:defRPr sz="2200"/>
            </a:pPr>
            <a:endParaRPr lang="en-US" dirty="0"/>
          </a:p>
          <a:p>
            <a:pPr>
              <a:defRPr sz="2200"/>
            </a:pPr>
            <a:endParaRPr lang="en-US" dirty="0"/>
          </a:p>
          <a:p>
            <a:pPr>
              <a:defRPr sz="2200"/>
            </a:pPr>
            <a:endParaRPr lang="en-US" dirty="0"/>
          </a:p>
          <a:p>
            <a:pPr>
              <a:defRPr sz="2200"/>
            </a:pPr>
            <a:endParaRPr lang="en-US" dirty="0"/>
          </a:p>
          <a:p>
            <a:pPr>
              <a:defRPr sz="2200"/>
            </a:pPr>
            <a:endParaRPr lang="en-US" dirty="0"/>
          </a:p>
          <a:p>
            <a:pPr>
              <a:defRPr sz="2200"/>
            </a:pPr>
            <a:endParaRPr lang="en-US" dirty="0"/>
          </a:p>
          <a:p>
            <a:pPr>
              <a:defRPr sz="2200"/>
            </a:pPr>
            <a:endParaRPr lang="en-US" dirty="0"/>
          </a:p>
          <a:p>
            <a:pPr>
              <a:defRPr sz="2200"/>
            </a:pPr>
            <a:endParaRPr lang="en-US" dirty="0"/>
          </a:p>
        </p:txBody>
      </p:sp>
      <p:pic>
        <p:nvPicPr>
          <p:cNvPr id="5" name="Picture 4" descr="A graph showing a number of blue squares&#10;&#10;Description automatically generated">
            <a:extLst>
              <a:ext uri="{FF2B5EF4-FFF2-40B4-BE49-F238E27FC236}">
                <a16:creationId xmlns:a16="http://schemas.microsoft.com/office/drawing/2014/main" id="{34FC2624-91D6-1FC0-803E-ECDF1C000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16953"/>
            <a:ext cx="4983480" cy="3547872"/>
          </a:xfrm>
          <a:prstGeom prst="rect">
            <a:avLst/>
          </a:prstGeom>
        </p:spPr>
      </p:pic>
      <p:pic>
        <p:nvPicPr>
          <p:cNvPr id="7" name="Picture 6" descr="A graph showing the average number of support tickets&#10;&#10;Description automatically generated">
            <a:extLst>
              <a:ext uri="{FF2B5EF4-FFF2-40B4-BE49-F238E27FC236}">
                <a16:creationId xmlns:a16="http://schemas.microsoft.com/office/drawing/2014/main" id="{F1EACE20-8FAB-9366-B5B1-4F50660C24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7295" y="1316953"/>
            <a:ext cx="4901184" cy="35478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006DC30-4BF4-3C80-6CE2-3603B0FEF702}"/>
              </a:ext>
            </a:extLst>
          </p:cNvPr>
          <p:cNvSpPr txBox="1"/>
          <p:nvPr/>
        </p:nvSpPr>
        <p:spPr>
          <a:xfrm>
            <a:off x="908031" y="5265599"/>
            <a:ext cx="942663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lang="en-US" dirty="0"/>
              <a:t>Key finding:</a:t>
            </a:r>
          </a:p>
          <a:p>
            <a:pPr>
              <a:defRPr sz="2200"/>
            </a:pPr>
            <a:r>
              <a:rPr lang="en-US" dirty="0"/>
              <a:t>Customers with longer resolution times were more likely to churn.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User Engagement &amp; KPI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4066049" cy="24622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4C81"/>
                </a:solidFill>
              </a:defRPr>
            </a:pPr>
            <a:r>
              <a:rPr dirty="0"/>
              <a:t>GRAPH 6  – Average User Activity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KPI: Customer Churn Rate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Current Value: 28.5%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Monitor monthly.</a:t>
            </a:r>
          </a:p>
        </p:txBody>
      </p:sp>
      <p:pic>
        <p:nvPicPr>
          <p:cNvPr id="7" name="Picture 6" descr="A graph with blue rectangular bars&#10;&#10;Description automatically generated">
            <a:extLst>
              <a:ext uri="{FF2B5EF4-FFF2-40B4-BE49-F238E27FC236}">
                <a16:creationId xmlns:a16="http://schemas.microsoft.com/office/drawing/2014/main" id="{2D49AFEB-5990-CA91-5EE2-FAABE9960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8284" y="1352628"/>
            <a:ext cx="6231705" cy="45110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1. Improve Free plan retention.</a:t>
            </a:r>
          </a:p>
          <a:p>
            <a:pPr>
              <a:defRPr sz="2200"/>
            </a:pPr>
            <a:r>
              <a:t>2. Reduce support resolution time.</a:t>
            </a:r>
          </a:p>
          <a:p>
            <a:pPr>
              <a:defRPr sz="2200"/>
            </a:pPr>
            <a:r>
              <a:t>3. Increase customer engagement.</a:t>
            </a:r>
          </a:p>
          <a:p>
            <a:pPr>
              <a:defRPr sz="2200"/>
            </a:pPr>
            <a:r>
              <a:t>4. Identify high-risk customers early.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Free plan customers have the highest churn.</a:t>
            </a:r>
          </a:p>
          <a:p>
            <a:pPr>
              <a:defRPr sz="2200"/>
            </a:pPr>
            <a:r>
              <a:t>• Lower engagement and longer support resolution are strongly associated with churn.</a:t>
            </a:r>
          </a:p>
          <a:p>
            <a:pPr>
              <a:defRPr sz="2200"/>
            </a:pPr>
            <a:r>
              <a:t>• Monitoring churn monthly will help evaluate retention strategies.</a:t>
            </a:r>
          </a:p>
          <a:p>
            <a:pPr>
              <a:defRPr sz="2200"/>
            </a:pPr>
            <a:endParaRPr/>
          </a:p>
          <a:p>
            <a:pPr>
              <a:defRPr sz="2200"/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263</Words>
  <Application>Microsoft Office PowerPoint</Application>
  <PresentationFormat>Custom</PresentationFormat>
  <Paragraphs>64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mahdi</dc:creator>
  <cp:keywords/>
  <dc:description>generated using python-pptx</dc:description>
  <cp:lastModifiedBy>mahdi deh</cp:lastModifiedBy>
  <cp:revision>2</cp:revision>
  <dcterms:created xsi:type="dcterms:W3CDTF">2013-01-27T09:14:16Z</dcterms:created>
  <dcterms:modified xsi:type="dcterms:W3CDTF">2026-07-15T17:54:22Z</dcterms:modified>
  <cp:category/>
</cp:coreProperties>
</file>